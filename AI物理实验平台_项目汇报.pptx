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2A"/>
            </a:gs>
            <a:gs pos="100000">
              <a:srgbClr val="15253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onsolas"/>
              </a:defRPr>
            </a:pPr>
            <a:r>
              <a:t>AI PHYSICS EXPERIMENT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AI 物理实验仿真平台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78DA9"/>
                </a:solidFill>
                <a:latin typeface="Microsoft YaHei"/>
              </a:defRPr>
            </a:pPr>
            <a:r>
              <a:t>基于 NVIDIA Isaac Sim + PhysX 5 的</a:t>
            </a:r>
            <a:br/>
            <a:r>
              <a:t>GPU 加速全栈物理实验系统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1828800" cy="254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8DA9"/>
                </a:solidFill>
                <a:latin typeface="Microsoft YaHei"/>
              </a:defRPr>
            </a:pPr>
            <a:r>
              <a:t>项目汇报  |  2026 年春季学期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463040" cy="320040"/>
          </a:xfrm>
          <a:prstGeom prst="roundRect">
            <a:avLst/>
          </a:prstGeom>
          <a:solidFill>
            <a:srgbClr val="415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D4FF"/>
                </a:solidFill>
                <a:latin typeface="Consolas"/>
              </a:defRPr>
            </a:pPr>
            <a:r>
              <a:t>React 19 + TypeScript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5303520"/>
            <a:ext cx="1463040" cy="320040"/>
          </a:xfrm>
          <a:prstGeom prst="roundRect">
            <a:avLst/>
          </a:prstGeom>
          <a:solidFill>
            <a:srgbClr val="415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D4FF"/>
                </a:solidFill>
                <a:latin typeface="Consolas"/>
              </a:defRPr>
            </a:pPr>
            <a:r>
              <a:t>WebRTC 实时视频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5303520"/>
            <a:ext cx="1463040" cy="320040"/>
          </a:xfrm>
          <a:prstGeom prst="roundRect">
            <a:avLst/>
          </a:prstGeom>
          <a:solidFill>
            <a:srgbClr val="415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D4FF"/>
                </a:solidFill>
                <a:latin typeface="Consolas"/>
              </a:defRPr>
            </a:pPr>
            <a:r>
              <a:t>WebSocket 双向通信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5303520"/>
            <a:ext cx="1463040" cy="320040"/>
          </a:xfrm>
          <a:prstGeom prst="roundRect">
            <a:avLst/>
          </a:prstGeom>
          <a:solidFill>
            <a:srgbClr val="415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D4FF"/>
                </a:solidFill>
                <a:latin typeface="Consolas"/>
              </a:defRPr>
            </a:pPr>
            <a:r>
              <a:t>PhysX 5 物理引擎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5303520"/>
            <a:ext cx="1463040" cy="320040"/>
          </a:xfrm>
          <a:prstGeom prst="roundRect">
            <a:avLst/>
          </a:prstGeom>
          <a:solidFill>
            <a:srgbClr val="415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D4FF"/>
                </a:solidFill>
                <a:latin typeface="Consolas"/>
              </a:defRPr>
            </a:pPr>
            <a:r>
              <a:t>NVIDIA RTX 5090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AA"/>
                </a:solidFill>
                <a:latin typeface="Microsoft YaHei"/>
              </a:defRPr>
            </a:pPr>
            <a:r>
              <a:t>1/23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1B2A"/>
                </a:solidFill>
                <a:latin typeface="Microsoft YaHei"/>
              </a:defRPr>
            </a:pPr>
            <a:r>
              <a:t>目录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40080" cy="50292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600" b="1">
                <a:solidFill>
                  <a:srgbClr val="00D4F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481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Microsoft YaHei"/>
              </a:defRPr>
            </a:pPr>
            <a:r>
              <a:t>项目概览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7373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平台定位、系统架构与技术栈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640080" cy="50292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600" b="1">
                <a:solidFill>
                  <a:srgbClr val="00D4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214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Microsoft YaHei"/>
              </a:defRPr>
            </a:pPr>
            <a:r>
              <a:t>我的核心工作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774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实验一全栈开发 + 整体框架搭建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640080" cy="50292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600" b="1">
                <a:solidFill>
                  <a:srgbClr val="00D4F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7614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Microsoft YaHei"/>
              </a:defRPr>
            </a:pPr>
            <a:r>
              <a:t>后端开发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017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WebRTC 服务器、视频管线与遥测系统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640080" cy="50292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600" b="1">
                <a:solidFill>
                  <a:srgbClr val="00D4F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401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Microsoft YaHei"/>
              </a:defRPr>
            </a:pPr>
            <a:r>
              <a:t>前端开发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57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React 组件体系与前端适配挑战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640080" cy="50292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600" b="1">
                <a:solidFill>
                  <a:srgbClr val="00D4F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041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Microsoft YaHei"/>
              </a:defRPr>
            </a:pPr>
            <a:r>
              <a:t>视频流投送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297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如何把 Isaac Sim 画面推到浏览器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63440"/>
            <a:ext cx="640080" cy="50292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600" b="1">
                <a:solidFill>
                  <a:srgbClr val="00D4F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6817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Microsoft YaHei"/>
              </a:defRPr>
            </a:pPr>
            <a:r>
              <a:t>同学代码集成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9377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实验二（大摆角摆）与实验七（动量守恒）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03520"/>
            <a:ext cx="640080" cy="50292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600" b="1">
                <a:solidFill>
                  <a:srgbClr val="00D4F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3218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Microsoft YaHei"/>
              </a:defRPr>
            </a:pPr>
            <a:r>
              <a:t>技术挑战与解决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5778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踩过的坑与工程解决方案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943600"/>
            <a:ext cx="640080" cy="50292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600" b="1">
                <a:solidFill>
                  <a:srgbClr val="00D4FF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9618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Microsoft YaHei"/>
              </a:defRPr>
            </a:pPr>
            <a:r>
              <a:t>项目成果与展望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62179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成果展示与未来规划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AA"/>
                </a:solidFill>
                <a:latin typeface="Microsoft YaHei"/>
              </a:defRPr>
            </a:pPr>
            <a:r>
              <a:t>2/23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2A"/>
            </a:gs>
            <a:gs pos="100000">
              <a:srgbClr val="1B2A4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78DA9"/>
                </a:solidFill>
                <a:latin typeface="Consolas"/>
              </a:defRPr>
            </a:pPr>
            <a: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项目概览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78DA9"/>
                </a:solidFill>
                <a:latin typeface="Microsoft YaHei"/>
              </a:defRPr>
            </a:pPr>
            <a:r>
              <a:t>平台定位 · 系统架构 · 技术栈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AA"/>
                </a:solidFill>
                <a:latin typeface="Microsoft YaHei"/>
              </a:defRPr>
            </a:pPr>
            <a:r>
              <a:t>3/23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1B2A"/>
                </a:solidFill>
                <a:latin typeface="Microsoft YaHei"/>
              </a:defRPr>
            </a:pPr>
            <a:r>
              <a:t>项目背景与目标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构建一个基于 GPU 加速的全栈物理实验仿真平台，让学生通过浏览器即可</a:t>
            </a:r>
            <a:br/>
            <a:r>
              <a:t>操作大学物理实验，获得实时 3D 仿真画面、遥测数据和自动实验报告。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920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4864" cy="1645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591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Microsoft YaHei"/>
              </a:defRPr>
            </a:pPr>
            <a:r>
              <a:t>硬件平台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700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NVIDIA RTX 5090 GPU 服务器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7121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Ubuntu Linux 大学机房部署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7238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远程 SSH + 浏览器访问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2286000"/>
            <a:ext cx="1920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2286000"/>
            <a:ext cx="54864" cy="1645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Microsoft YaHei"/>
              </a:defRPr>
            </a:pPr>
            <a:r>
              <a:t>仿真引擎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6700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NVIDIA Isaac Sim (Kit 应用)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87121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PhysX 5 GPU 物理引擎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07238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USD 场景描述格式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2286000"/>
            <a:ext cx="1920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2286000"/>
            <a:ext cx="54864" cy="16459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23591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Web 前端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6700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React 19 + TypeScript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87121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Vite 构建 + Tailwind 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07238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Recharts 实时数据可视化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2286000"/>
            <a:ext cx="1920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2286000"/>
            <a:ext cx="54864" cy="16459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23591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Microsoft YaHei"/>
              </a:defRPr>
            </a:pPr>
            <a:r>
              <a:t>通信协议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6700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WebRTC 实时视频流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87121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WebSocket 双向控制/遥测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07238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HTTP REST 信令接口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297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个物理实验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4297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个已完成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4297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Microsoft YaHei"/>
              </a:defRPr>
            </a:pPr>
            <a:r>
              <a:t>2136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行后端代码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4297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Microsoft YaHei"/>
              </a:defRPr>
            </a:pPr>
            <a:r>
              <a:t>1237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行前端代码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4297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个通信端口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AA"/>
                </a:solidFill>
                <a:latin typeface="Microsoft YaHei"/>
              </a:defRPr>
            </a:pPr>
            <a:r>
              <a:t>4/23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1B2A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8229600" cy="1371600"/>
          </a:xfrm>
          <a:prstGeom prst="roundRect">
            <a:avLst/>
          </a:prstGeom>
          <a:solidFill>
            <a:srgbClr val="227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浏览器层 (React 19 + TypeScript + Vite + Tailwind)</a:t>
            </a:r>
          </a:p>
          <a:p>
            <a:pPr>
              <a:spcBef>
                <a:spcPts val="600"/>
              </a:spcBef>
              <a:defRPr sz="900">
                <a:solidFill>
                  <a:srgbClr val="DDDDDD"/>
                </a:solidFill>
                <a:latin typeface="Consolas"/>
              </a:defRPr>
            </a:pPr>
            <a:r>
              <a:t>Landing.tsx  |  LevelSelect.tsx  |  ExperimentView.tsx  |  WebRTCIsaacViewer.tsx</a:t>
            </a:r>
            <a:br/>
            <a:r>
              <a:t>experiments.ts (8个实验UI定义)  |  isaacService.ts (WebSocket客户端)  |  config.ts (自动IP)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8229600" cy="1371600"/>
          </a:xfrm>
          <a:prstGeom prst="roundRect">
            <a:avLst/>
          </a:prstGeom>
          <a:solidFill>
            <a:srgbClr val="E9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通信层 (WebSocket :30000 + WebRTC :8080 + HTTP REST)</a:t>
            </a:r>
          </a:p>
          <a:p>
            <a:pPr>
              <a:spcBef>
                <a:spcPts val="600"/>
              </a:spcBef>
              <a:defRPr sz="900">
                <a:solidFill>
                  <a:srgbClr val="DDDDDD"/>
                </a:solidFill>
                <a:latin typeface="Consolas"/>
              </a:defRPr>
            </a:pPr>
            <a:r>
              <a:t>WebSocket: 实验控制命令 + 100Hz遥测广播  |  WebRTC: 实时视频帧传输 (30fps)</a:t>
            </a:r>
            <a:br/>
            <a:r>
              <a:t>HTTP POST: SDP信令交换 + 相机控制  |  WS-JPEG: SSH隧道降级方案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8229600" cy="1371600"/>
          </a:xfrm>
          <a:prstGeom prst="roundRect">
            <a:avLst/>
          </a:prstGeom>
          <a:solidFill>
            <a:srgbClr val="264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Isaac Sim Python 运行时 (core/webrtc_server.py)</a:t>
            </a:r>
          </a:p>
          <a:p>
            <a:pPr>
              <a:spcBef>
                <a:spcPts val="600"/>
              </a:spcBef>
              <a:defRPr sz="900">
                <a:solidFill>
                  <a:srgbClr val="DDDDDD"/>
                </a:solidFill>
                <a:latin typeface="Consolas"/>
              </a:defRPr>
            </a:pPr>
            <a:r>
              <a:t>WebRTCServer: aiohttp + aiortc 异步服务  |  IsaacSimVideoTrack: 视口帧捕获</a:t>
            </a:r>
            <a:br/>
            <a:r>
              <a:t>CameraController: 轨道/平移/缩放  |  实验状态机 + 碰撞检测 + RK4积分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577840"/>
            <a:ext cx="8229600" cy="1371600"/>
          </a:xfrm>
          <a:prstGeom prst="round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物理引擎层 (PhysX 5 + USD Scene)</a:t>
            </a:r>
          </a:p>
          <a:p>
            <a:pPr>
              <a:spcBef>
                <a:spcPts val="600"/>
              </a:spcBef>
              <a:defRPr sz="900">
                <a:solidFill>
                  <a:srgbClr val="DDDDDD"/>
                </a:solidFill>
                <a:latin typeface="Consolas"/>
              </a:defRPr>
            </a:pPr>
            <a:r>
              <a:t>Experiment/exp.usd: 统一场景  |  DynamicCuboid / FixedCuboid / VisualCuboid</a:t>
            </a:r>
            <a:br/>
            <a:r>
              <a:t>PhysicsMaterial: 摩擦/恢复系数  |  RigidBodyAPI + MassAPI + RevoluteJoint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89120" y="2606040"/>
            <a:ext cx="365760" cy="22860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4389120" y="4160520"/>
            <a:ext cx="365760" cy="22860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4389120" y="5478780"/>
            <a:ext cx="365760" cy="22860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AA"/>
                </a:solidFill>
                <a:latin typeface="Microsoft YaHei"/>
              </a:defRPr>
            </a:pPr>
            <a:r>
              <a:t>5/23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2A"/>
            </a:gs>
            <a:gs pos="100000">
              <a:srgbClr val="1B2A4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78DA9"/>
                </a:solidFill>
                <a:latin typeface="Consolas"/>
              </a:defRPr>
            </a:pPr>
            <a: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我的核心工作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78DA9"/>
                </a:solidFill>
                <a:latin typeface="Microsoft YaHei"/>
              </a:defRPr>
            </a:pPr>
            <a:r>
              <a:t>实验一全栈开发 · 整体框架搭建 · 代码集成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AA"/>
                </a:solidFill>
                <a:latin typeface="Microsoft YaHei"/>
              </a:defRPr>
            </a:pPr>
            <a:r>
              <a:t>6/23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1B2A"/>
                </a:solidFill>
                <a:latin typeface="Microsoft YaHei"/>
              </a:defRPr>
            </a:pPr>
            <a:r>
              <a:t>个人工作总览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26517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65176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1344168"/>
            <a:ext cx="384048" cy="38404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325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Microsoft YaHei"/>
              </a:defRPr>
            </a:pPr>
            <a:r>
              <a:t>实验一 · 角动量守恒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819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Microsoft YaHei"/>
              </a:defRPr>
            </a:pPr>
            <a:r>
              <a:t>独立完成全部代码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20"/>
            <a:ext cx="237744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0352" y="2039112"/>
            <a:ext cx="64008" cy="6400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98424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搭建完整的 3D 虚拟实验场景，还原</a:t>
            </a:r>
            <a:br/>
            <a:r>
              <a:t>真实转台、环和盘的实验器材外观</a:t>
            </a:r>
          </a:p>
        </p:txBody>
      </p:sp>
      <p:sp>
        <p:nvSpPr>
          <p:cNvPr id="12" name="Oval 11"/>
          <p:cNvSpPr/>
          <p:nvPr/>
        </p:nvSpPr>
        <p:spPr>
          <a:xfrm>
            <a:off x="530352" y="2569464"/>
            <a:ext cx="64008" cy="6400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51460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编写物理仿真逻辑：转盘旋转、物体</a:t>
            </a:r>
            <a:br/>
            <a:r>
              <a:t>下落、守恒过程的全流程模拟</a:t>
            </a:r>
          </a:p>
        </p:txBody>
      </p:sp>
      <p:sp>
        <p:nvSpPr>
          <p:cNvPr id="14" name="Oval 13"/>
          <p:cNvSpPr/>
          <p:nvPr/>
        </p:nvSpPr>
        <p:spPr>
          <a:xfrm>
            <a:off x="530352" y="3099816"/>
            <a:ext cx="64008" cy="6400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44952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服务器实时采集角速度、角动量、动能</a:t>
            </a:r>
            <a:br/>
            <a:r>
              <a:t>等物理量，持续推送到浏览器</a:t>
            </a:r>
          </a:p>
        </p:txBody>
      </p:sp>
      <p:sp>
        <p:nvSpPr>
          <p:cNvPr id="16" name="Oval 15"/>
          <p:cNvSpPr/>
          <p:nvPr/>
        </p:nvSpPr>
        <p:spPr>
          <a:xfrm>
            <a:off x="530352" y="3630168"/>
            <a:ext cx="64008" cy="6400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575304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设计前端【设置-旋转-落下-记录】</a:t>
            </a:r>
            <a:br/>
            <a:r>
              <a:t>4 步引导式流程，共 4 个试次</a:t>
            </a:r>
          </a:p>
        </p:txBody>
      </p:sp>
      <p:sp>
        <p:nvSpPr>
          <p:cNvPr id="18" name="Oval 17"/>
          <p:cNvSpPr/>
          <p:nvPr/>
        </p:nvSpPr>
        <p:spPr>
          <a:xfrm>
            <a:off x="530352" y="4160520"/>
            <a:ext cx="64008" cy="6400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105656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实时曲线图 + 数据表 + CSV 导出</a:t>
            </a:r>
            <a:br/>
            <a:r>
              <a:t>+ 一键生成完整 PDF 实验报告</a:t>
            </a:r>
          </a:p>
        </p:txBody>
      </p:sp>
      <p:sp>
        <p:nvSpPr>
          <p:cNvPr id="20" name="Oval 19"/>
          <p:cNvSpPr/>
          <p:nvPr/>
        </p:nvSpPr>
        <p:spPr>
          <a:xfrm>
            <a:off x="530352" y="4690872"/>
            <a:ext cx="64008" cy="6400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63600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另有命令行离线模式，可批量生成</a:t>
            </a:r>
            <a:br/>
            <a:r>
              <a:t>数据、图表和 Markdown 分析报告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669280"/>
            <a:ext cx="2103120" cy="5029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onsolas"/>
              </a:rPr>
              <a:t>694+</a:t>
            </a:r>
            <a:r>
              <a:rPr sz="1000" b="0">
                <a:solidFill>
                  <a:srgbClr val="DDEEFF"/>
                </a:solidFill>
                <a:latin typeface="Microsoft YaHei"/>
              </a:rPr>
              <a:t>  行仿真代码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1143000"/>
            <a:ext cx="26517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0" y="1143000"/>
            <a:ext cx="26517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37560" y="1344168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1325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Microsoft YaHei"/>
              </a:defRPr>
            </a:pPr>
            <a:r>
              <a:t>全栈平台框架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15819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Microsoft YaHei"/>
              </a:defRPr>
            </a:pPr>
            <a:r>
              <a:t>从零搭建整个系统骨架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1874520"/>
            <a:ext cx="237744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364992" y="2039112"/>
            <a:ext cx="64008" cy="6400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198424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独立编写 2100+ 行后端服务器代码，</a:t>
            </a:r>
            <a:br/>
            <a:r>
              <a:t>连接仿真引擎与浏览器端</a:t>
            </a:r>
          </a:p>
        </p:txBody>
      </p:sp>
      <p:sp>
        <p:nvSpPr>
          <p:cNvPr id="31" name="Oval 30"/>
          <p:cNvSpPr/>
          <p:nvPr/>
        </p:nvSpPr>
        <p:spPr>
          <a:xfrm>
            <a:off x="3364992" y="2569464"/>
            <a:ext cx="64008" cy="6400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93008" y="251460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实现 GPU 渲染画面的实时视频推流，</a:t>
            </a:r>
            <a:br/>
            <a:r>
              <a:t>让用户在浏览器中看到 3D 仿真</a:t>
            </a:r>
          </a:p>
        </p:txBody>
      </p:sp>
      <p:sp>
        <p:nvSpPr>
          <p:cNvPr id="33" name="Oval 32"/>
          <p:cNvSpPr/>
          <p:nvPr/>
        </p:nvSpPr>
        <p:spPr>
          <a:xfrm>
            <a:off x="3364992" y="3099816"/>
            <a:ext cx="64008" cy="6400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93008" y="3044952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设计备用视频通道：网络受限时自动</a:t>
            </a:r>
            <a:br/>
            <a:r>
              <a:t>无缝切换，保证画面不中断</a:t>
            </a:r>
          </a:p>
        </p:txBody>
      </p:sp>
      <p:sp>
        <p:nvSpPr>
          <p:cNvPr id="35" name="Oval 34"/>
          <p:cNvSpPr/>
          <p:nvPr/>
        </p:nvSpPr>
        <p:spPr>
          <a:xfrm>
            <a:off x="3364992" y="3630168"/>
            <a:ext cx="64008" cy="6400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93008" y="3575304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搭建浏览器与服务器的双向实时通信</a:t>
            </a:r>
            <a:br/>
            <a:r>
              <a:t>（发送控制指令 + 回传物理数据）</a:t>
            </a:r>
          </a:p>
        </p:txBody>
      </p:sp>
      <p:sp>
        <p:nvSpPr>
          <p:cNvPr id="37" name="Oval 36"/>
          <p:cNvSpPr/>
          <p:nvPr/>
        </p:nvSpPr>
        <p:spPr>
          <a:xfrm>
            <a:off x="3364992" y="4160520"/>
            <a:ext cx="64008" cy="6400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93008" y="4105656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基于学长旧前端代码做大幅重构改造，</a:t>
            </a:r>
            <a:br/>
            <a:r>
              <a:t>解决 10+ 个兼容性和适配问题</a:t>
            </a:r>
          </a:p>
        </p:txBody>
      </p:sp>
      <p:sp>
        <p:nvSpPr>
          <p:cNvPr id="39" name="Oval 38"/>
          <p:cNvSpPr/>
          <p:nvPr/>
        </p:nvSpPr>
        <p:spPr>
          <a:xfrm>
            <a:off x="3364992" y="4690872"/>
            <a:ext cx="64008" cy="6400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93008" y="463600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设计统一配置系统，让 8 个实验</a:t>
            </a:r>
            <a:br/>
            <a:r>
              <a:t>共享一套前端框架和交互逻辑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74720" y="5669280"/>
            <a:ext cx="210312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onsolas"/>
              </a:rPr>
              <a:t>2100+</a:t>
            </a:r>
            <a:r>
              <a:rPr sz="1000" b="0">
                <a:solidFill>
                  <a:srgbClr val="DDEEFF"/>
                </a:solidFill>
                <a:latin typeface="Microsoft YaHei"/>
              </a:rPr>
              <a:t>  行后端代码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35040" y="1143000"/>
            <a:ext cx="26517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35040" y="1143000"/>
            <a:ext cx="2651760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172200" y="1344168"/>
            <a:ext cx="384048" cy="384048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1325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Microsoft YaHei"/>
              </a:defRPr>
            </a:pPr>
            <a:r>
              <a:t>同学代码集成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15819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Microsoft YaHei"/>
              </a:defRPr>
            </a:pPr>
            <a:r>
              <a:t>接入实验二和实验七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1874520"/>
            <a:ext cx="237744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199632" y="2039112"/>
            <a:ext cx="64008" cy="64008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27648" y="198424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将两位同学的独立脚本改造为可在</a:t>
            </a:r>
            <a:br/>
            <a:r>
              <a:t>网页端实时操控的在线实验</a:t>
            </a:r>
          </a:p>
        </p:txBody>
      </p:sp>
      <p:sp>
        <p:nvSpPr>
          <p:cNvPr id="50" name="Oval 49"/>
          <p:cNvSpPr/>
          <p:nvPr/>
        </p:nvSpPr>
        <p:spPr>
          <a:xfrm>
            <a:off x="6199632" y="2569464"/>
            <a:ext cx="64008" cy="64008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27648" y="251460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实验二（大摆角摆）：重建 3D 场景，</a:t>
            </a:r>
            <a:br/>
            <a:r>
              <a:t>集成摆动计算，实时显示角度和周期</a:t>
            </a:r>
          </a:p>
        </p:txBody>
      </p:sp>
      <p:sp>
        <p:nvSpPr>
          <p:cNvPr id="52" name="Oval 51"/>
          <p:cNvSpPr/>
          <p:nvPr/>
        </p:nvSpPr>
        <p:spPr>
          <a:xfrm>
            <a:off x="6199632" y="3099816"/>
            <a:ext cx="64008" cy="64008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27648" y="3044952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实验七（碰撞实验）：重建小车碰撞</a:t>
            </a:r>
            <a:br/>
            <a:r>
              <a:t>场景，检测碰撞并精确捕获速度变化</a:t>
            </a:r>
          </a:p>
        </p:txBody>
      </p:sp>
      <p:sp>
        <p:nvSpPr>
          <p:cNvPr id="54" name="Oval 53"/>
          <p:cNvSpPr/>
          <p:nvPr/>
        </p:nvSpPr>
        <p:spPr>
          <a:xfrm>
            <a:off x="6199632" y="3630168"/>
            <a:ext cx="64008" cy="64008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27648" y="3575304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两个实验都需要重写场景搭建方式</a:t>
            </a:r>
            <a:br/>
            <a:r>
              <a:t>来兼容实时视频推流管线</a:t>
            </a:r>
          </a:p>
        </p:txBody>
      </p:sp>
      <p:sp>
        <p:nvSpPr>
          <p:cNvPr id="56" name="Oval 55"/>
          <p:cNvSpPr/>
          <p:nvPr/>
        </p:nvSpPr>
        <p:spPr>
          <a:xfrm>
            <a:off x="6199632" y="4160520"/>
            <a:ext cx="64008" cy="64008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27648" y="4105656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两个实验都配套设计了完整的</a:t>
            </a:r>
            <a:br/>
            <a:r>
              <a:t>4 试次实验流程 + PDF 报告功能</a:t>
            </a:r>
          </a:p>
        </p:txBody>
      </p:sp>
      <p:sp>
        <p:nvSpPr>
          <p:cNvPr id="58" name="Oval 57"/>
          <p:cNvSpPr/>
          <p:nvPr/>
        </p:nvSpPr>
        <p:spPr>
          <a:xfrm>
            <a:off x="6199632" y="4690872"/>
            <a:ext cx="64008" cy="64008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27648" y="463600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涉及大量联调与适配工作，确保</a:t>
            </a:r>
            <a:br/>
            <a:r>
              <a:t>物理精度和显示效果的一致性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09360" y="5669280"/>
            <a:ext cx="2103120" cy="50292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onsolas"/>
              </a:rPr>
              <a:t>2</a:t>
            </a:r>
            <a:r>
              <a:rPr sz="1000" b="0">
                <a:solidFill>
                  <a:srgbClr val="DDEEFF"/>
                </a:solidFill>
                <a:latin typeface="Microsoft YaHei"/>
              </a:rPr>
              <a:t>  个实验接入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AA"/>
                </a:solidFill>
                <a:latin typeface="Microsoft YaHei"/>
              </a:defRPr>
            </a:pPr>
            <a:r>
              <a:t>7/23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1B2A"/>
                </a:solidFill>
                <a:latin typeface="Microsoft YaHei"/>
              </a:defRPr>
            </a:pPr>
            <a:r>
              <a:t>工作量数据一览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41248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51560"/>
            <a:ext cx="126187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26187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Consolas"/>
              </a:defRPr>
            </a:pPr>
            <a:r>
              <a:t>10,000+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18488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行代码总量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19072" y="1051560"/>
            <a:ext cx="126187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19072" y="1051560"/>
            <a:ext cx="126187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19072" y="1188720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  <a:latin typeface="Consolas"/>
              </a:defRPr>
            </a:pPr>
            <a:r>
              <a:t>5,243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9072" y="1618488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行前端代码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4" y="1051560"/>
            <a:ext cx="126187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18104" y="1051560"/>
            <a:ext cx="1261872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1188720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Consolas"/>
              </a:defRPr>
            </a:pPr>
            <a:r>
              <a:t>4,800+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8104" y="1618488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行后端代码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17136" y="1051560"/>
            <a:ext cx="126187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17136" y="1051560"/>
            <a:ext cx="1261872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7136" y="1188720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1618488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个完整实验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16168" y="1051560"/>
            <a:ext cx="126187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16168" y="1051560"/>
            <a:ext cx="1261872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6168" y="1188720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A500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6168" y="1618488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个实验框架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051560"/>
            <a:ext cx="126187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1051560"/>
            <a:ext cx="1261872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1188720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B8A6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1618488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条视频通道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240280"/>
            <a:ext cx="3931920" cy="347472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  搭建的功能模块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651760"/>
            <a:ext cx="3931920" cy="274320"/>
          </a:xfrm>
          <a:prstGeom prst="rect">
            <a:avLst/>
          </a:prstGeom>
          <a:solidFill>
            <a:srgbClr val="F0FDFA"/>
          </a:solidFill>
          <a:ln w="6350">
            <a:solidFill>
              <a:srgbClr val="E8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26517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✓  实验一角动量守恒 — 从建模到报告的完整实验流程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926080"/>
            <a:ext cx="3931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29260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✓  2100+ 行后端服务器 — 视频推流 + 实时通信 + 数据广播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200400"/>
            <a:ext cx="3931920" cy="274320"/>
          </a:xfrm>
          <a:prstGeom prst="rect">
            <a:avLst/>
          </a:prstGeom>
          <a:solidFill>
            <a:srgbClr val="F0FDFA"/>
          </a:solidFill>
          <a:ln w="6350">
            <a:solidFill>
              <a:srgbClr val="E8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2004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✓  1236 行实验控制界面 — 三种实验各有专属 UI 布局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474720"/>
            <a:ext cx="3931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34747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✓  实时视频推流系统 — 将 GPU 画面送到浏览器播放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749040"/>
            <a:ext cx="3931920" cy="274320"/>
          </a:xfrm>
          <a:prstGeom prst="rect">
            <a:avLst/>
          </a:prstGeom>
          <a:solidFill>
            <a:srgbClr val="F0FDFA"/>
          </a:solidFill>
          <a:ln w="6350">
            <a:solidFill>
              <a:srgbClr val="E8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37490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✓  备用图片流通道 — 网络受限时自动无缝切换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023360"/>
            <a:ext cx="3931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0233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✓  100Hz 物理数据广播 — 角速度/动量/能量实时推送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297680"/>
            <a:ext cx="3931920" cy="274320"/>
          </a:xfrm>
          <a:prstGeom prst="rect">
            <a:avLst/>
          </a:prstGeom>
          <a:solidFill>
            <a:srgbClr val="F0FDFA"/>
          </a:solidFill>
          <a:ln w="6350">
            <a:solidFill>
              <a:srgbClr val="E8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42976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✓  4 试次实验流程引擎 — 实验一和实验七各一套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572000"/>
            <a:ext cx="3931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45720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✓  2 套 PDF 报告生成器 — 含图表、数据表、误差分析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846320"/>
            <a:ext cx="3931920" cy="274320"/>
          </a:xfrm>
          <a:prstGeom prst="rect">
            <a:avLst/>
          </a:prstGeom>
          <a:solidFill>
            <a:srgbClr val="F0FDFA"/>
          </a:solidFill>
          <a:ln w="6350">
            <a:solidFill>
              <a:srgbClr val="E8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48463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✓  CSV 数据导出功能 — 支持离线数据进一步分析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120640"/>
            <a:ext cx="3931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" y="51206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✓  3D 相机交互系统 — 鼠标旋转、平移、缩放视角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394960"/>
            <a:ext cx="3931920" cy="274320"/>
          </a:xfrm>
          <a:prstGeom prst="rect">
            <a:avLst/>
          </a:prstGeom>
          <a:solidFill>
            <a:srgbClr val="F0FDFA"/>
          </a:solidFill>
          <a:ln w="6350">
            <a:solidFill>
              <a:srgbClr val="E8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53949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✓  8 个实验的统一配置框架 — 控件/图表/参数声明式管理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669280"/>
            <a:ext cx="3931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56692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✓  8 套摄像机预设脚本 — 每个实验独立视角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663440" y="2240280"/>
            <a:ext cx="4023360" cy="347472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  解决的问题与适配工作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63440" y="2651760"/>
            <a:ext cx="4023360" cy="274320"/>
          </a:xfrm>
          <a:prstGeom prst="rect">
            <a:avLst/>
          </a:prstGeom>
          <a:solidFill>
            <a:srgbClr val="FFF7ED"/>
          </a:solidFill>
          <a:ln w="6350">
            <a:solidFill>
              <a:srgbClr val="F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36592" y="26517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✦  重构学长前端旧代码 — 大幅改造使其适配新后端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63440" y="2926080"/>
            <a:ext cx="4023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36592" y="29260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✦  修复硬编码 IP 地址 — 改为自动检测服务器地址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63440" y="3200400"/>
            <a:ext cx="4023360" cy="274320"/>
          </a:xfrm>
          <a:prstGeom prst="rect">
            <a:avLst/>
          </a:prstGeom>
          <a:solidFill>
            <a:srgbClr val="FFF7ED"/>
          </a:solidFill>
          <a:ln w="6350">
            <a:solidFill>
              <a:srgbClr val="F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36592" y="3200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✦  修复前端样式构建方式 — 从 CDN 迁移到工程化构建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63440" y="3474720"/>
            <a:ext cx="4023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36592" y="34747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✦  修复命令映射缺失 — 补全暂停/重置等缺失的控制逻辑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63440" y="3749040"/>
            <a:ext cx="4023360" cy="274320"/>
          </a:xfrm>
          <a:prstGeom prst="rect">
            <a:avLst/>
          </a:prstGeom>
          <a:solidFill>
            <a:srgbClr val="FFF7ED"/>
          </a:solidFill>
          <a:ln w="6350">
            <a:solidFill>
              <a:srgbClr val="F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36592" y="37490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✦  新增实验切换协议 — 原系统无法在多个实验间切换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63440" y="4023360"/>
            <a:ext cx="4023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36592" y="40233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✦  解决视频连接不稳定 — 设计自动降级备用方案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63440" y="4297680"/>
            <a:ext cx="4023360" cy="274320"/>
          </a:xfrm>
          <a:prstGeom prst="rect">
            <a:avLst/>
          </a:prstGeom>
          <a:solidFill>
            <a:srgbClr val="FFF7ED"/>
          </a:solidFill>
          <a:ln w="6350">
            <a:solidFill>
              <a:srgbClr val="F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36592" y="4297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✦  解决摄像机被引擎重置 — 多次延迟重设对抗异步初始化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663440" y="4572000"/>
            <a:ext cx="4023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36592" y="45720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✦  解决帧捕获与仿真冲突 — 重写渲染方式使两者兼容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63440" y="4846320"/>
            <a:ext cx="4023360" cy="274320"/>
          </a:xfrm>
          <a:prstGeom prst="rect">
            <a:avLst/>
          </a:prstGeom>
          <a:solidFill>
            <a:srgbClr val="FFF7ED"/>
          </a:solidFill>
          <a:ln w="6350">
            <a:solidFill>
              <a:srgbClr val="F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36592" y="48463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✦  解决物理引擎启动吞速度 — 添加暖机等待阶段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63440" y="5120640"/>
            <a:ext cx="4023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36592" y="51206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✦  解决碰撞精度不足 — 调高求解器精度参数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663440" y="5394960"/>
            <a:ext cx="4023360" cy="274320"/>
          </a:xfrm>
          <a:prstGeom prst="rect">
            <a:avLst/>
          </a:prstGeom>
          <a:solidFill>
            <a:srgbClr val="FFF7ED"/>
          </a:solidFill>
          <a:ln w="6350">
            <a:solidFill>
              <a:srgbClr val="F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736592" y="53949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✦  解决帧捕获首次返回空 — 预热机制 + 自动重建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63440" y="5669280"/>
            <a:ext cx="4023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36592" y="56692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✦  将两位同学脚本改造接入 — 重写场景 + 适配管线 + UI定制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57200" y="5715000"/>
            <a:ext cx="8229600" cy="45720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" y="57332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0C040"/>
                </a:solidFill>
                <a:latin typeface="Consolas"/>
              </a:defRPr>
            </a:pPr>
            <a:r>
              <a:t>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43000" y="57881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Microsoft YaHei"/>
              </a:defRPr>
            </a:pPr>
            <a:r>
              <a:t>项功能搭建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240280" y="57332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0C040"/>
                </a:solidFill>
                <a:latin typeface="Consolas"/>
              </a:defRPr>
            </a:pPr>
            <a:r>
              <a:t>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43200" y="57881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Microsoft YaHei"/>
              </a:defRPr>
            </a:pPr>
            <a:r>
              <a:t>个问题解决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840480" y="57332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0C040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43400" y="57881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Microsoft YaHei"/>
              </a:defRPr>
            </a:pPr>
            <a:r>
              <a:t>个前端页面组件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40680" y="57332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0C040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43600" y="57881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Microsoft YaHei"/>
              </a:defRPr>
            </a:pPr>
            <a:r>
              <a:t>份 PDF 报告模板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40880" y="57332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0C040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543800" y="57881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Microsoft YaHei"/>
              </a:defRPr>
            </a:pPr>
            <a:r>
              <a:t>种通信协议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AA"/>
                </a:solidFill>
                <a:latin typeface="Microsoft YaHei"/>
              </a:defRPr>
            </a:pPr>
            <a:r>
              <a:t>8/23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1B2A"/>
                </a:solidFill>
                <a:latin typeface="Microsoft YaHei"/>
              </a:defRPr>
            </a:pPr>
            <a:r>
              <a:t>实验一 · 角动量守恒 — 物理建模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将环（或盘）落到旋转转台上，验证角动量守恒定律 L = Iω = const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920240"/>
            <a:ext cx="20116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54864" cy="228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9339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Microsoft YaHei"/>
              </a:defRPr>
            </a:pPr>
            <a:r>
              <a:t>物理原理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0428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I_initial × ω_i = I_final × ω_f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0545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I_disk = ½mR²  (实心圆盘)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0662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I_ring = ½m(R₁² + R₂²) + mx²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0779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平行轴定理: I = I_cm + md²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摩擦能量损失: 1-3%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1920240"/>
            <a:ext cx="20116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14600" y="1920240"/>
            <a:ext cx="54864" cy="228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99339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Microsoft YaHei"/>
              </a:defRPr>
            </a:pPr>
            <a:r>
              <a:t>仿真实现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30428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DynamicCuboid 代理刚体驱动物理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0545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RevoluteJoint 约束Z轴旋转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70662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MassAPI 覆写精确惯量张量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90779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PhysicsMaterial 接触摩擦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3108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随机偏心 σ≈2mm 模拟人手误差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1920240"/>
            <a:ext cx="20116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1920240"/>
            <a:ext cx="54864" cy="2286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199339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数据采集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230428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DynamicControl API 读角速度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50545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100Hz 遥测广播 (角速度/角动量/KE)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70662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碰撞前后角动量百分比差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90779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动能损失百分比计算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108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传感器噪声 ±0.002 rad/s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12280" y="1920240"/>
            <a:ext cx="20116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80" y="1920240"/>
            <a:ext cx="54864" cy="2286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199339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Microsoft YaHei"/>
              </a:defRPr>
            </a:pPr>
            <a:r>
              <a:t>USD 场景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30428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加载队友3D模型 exp1.usd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250545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自动发现 disk/ring prim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270662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剥离嵌入物理(防冲突)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290779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代理体 ↔ 视觉体 逐帧同步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3108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旋转标记点可视化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480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onsolas"/>
              </a:defRPr>
            </a:pPr>
            <a:r>
              <a:t>核心公式:  Iω_before = Iω_after  →  ω_f = I_i/(I_i + I_drop) × ω_i × (1-μ_friction)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0292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onsolas"/>
              </a:defRPr>
            </a:pPr>
            <a:r>
              <a:t>I_RI = ½ × m_disk × R² + ½ × m_pulley × R_p²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2578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onsolas"/>
              </a:defRPr>
            </a:pPr>
            <a:r>
              <a:t>F_RI = I_RI + ½ × m_ring × (R₁² + R₂²) + m_ring × x²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4864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onsolas"/>
              </a:defRPr>
            </a:pPr>
            <a:r>
              <a:t>动能损失: ΔKE/KE_i = 1 - (I_i/I_f) → 理论 ~30-50%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AA"/>
                </a:solidFill>
                <a:latin typeface="Microsoft YaHei"/>
              </a:defRPr>
            </a:pPr>
            <a:r>
              <a:t>8/23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1B2A"/>
                </a:solidFill>
                <a:latin typeface="Microsoft YaHei"/>
              </a:defRPr>
            </a:pPr>
            <a:r>
              <a:t>实验一 · 前端4试次状态机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645920" cy="8229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IDLE</a:t>
            </a:r>
            <a:br/>
            <a:r>
              <a:t>设置参数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48840" y="1554480"/>
            <a:ext cx="365760" cy="27432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64592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SPINNING</a:t>
            </a:r>
            <a:br/>
            <a:r>
              <a:t>转盘旋转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51960" y="1554480"/>
            <a:ext cx="365760" cy="27432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3440" y="1280160"/>
            <a:ext cx="164592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DROPPED</a:t>
            </a:r>
            <a:br/>
            <a:r>
              <a:t>落下物体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355080" y="1554480"/>
            <a:ext cx="365760" cy="27432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0" y="1280160"/>
            <a:ext cx="1645920" cy="8229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RECORDED</a:t>
            </a:r>
            <a:br/>
            <a:r>
              <a:t>记录数据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Microsoft YaHei"/>
              </a:defRPr>
            </a:pPr>
            <a:r>
              <a:t>◆ 左侧面板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70048"/>
            <a:ext cx="7315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· 物理常数表 (Ring/Lower Disk/Upper Disk/Pulley 精确参数)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89504"/>
            <a:ext cx="7315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· 初始角速度滑块 ω₀ = 15~30 rad/s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08960"/>
            <a:ext cx="7315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· 落下物体选择器 (Ring / Upper Disk)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328416"/>
            <a:ext cx="7315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· 质量滑块 (首次 Spin 后锁定，保证实验一致性)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547872"/>
            <a:ext cx="7315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· 当前试次信息卡片 (FRI/FAV/偏移量)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7315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· 实时角速度折线图 (Recharts LineChart)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782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Microsoft YaHei"/>
              </a:defRPr>
            </a:pPr>
            <a:r>
              <a:t>◆ 底部面板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70832"/>
            <a:ext cx="7315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· 步骤指示器: idle → spinning (3s倒计时) → dropped → recorded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90288"/>
            <a:ext cx="7315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· 4步操作按钮: Spin → Drop → Record → Next Trial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09744"/>
            <a:ext cx="7315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· 试次数据表 (13列: IAV/FAV/x/IRI/FRI/IAM/FAM/%diff/InitK/FinalK/Energy%)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29200"/>
            <a:ext cx="7315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· CSV 导出 + PDF 实验报告一键生成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400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◆ PDF 报告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632704"/>
            <a:ext cx="7315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· 使用 @react-pdf/renderer 纯前端生成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852160"/>
            <a:ext cx="7315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· Canvas 渲染每个试次的角速度变化图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6071616"/>
            <a:ext cx="7315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· 包含: 物理常数、计算公式、4试次数据表、误差分析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6291072"/>
            <a:ext cx="7315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· renderTrialChart() 自定义图表绘制器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AA"/>
                </a:solidFill>
                <a:latin typeface="Microsoft YaHei"/>
              </a:defRPr>
            </a:pPr>
            <a:r>
              <a:t>9/23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2A"/>
            </a:gs>
            <a:gs pos="100000">
              <a:srgbClr val="1B2A4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78DA9"/>
                </a:solidFill>
                <a:latin typeface="Consolas"/>
              </a:defRPr>
            </a:pPr>
            <a: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后端开发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78DA9"/>
                </a:solidFill>
                <a:latin typeface="Microsoft YaHei"/>
              </a:defRPr>
            </a:pPr>
            <a:r>
              <a:t>WebRTC 服务器 · 视频管线 · 遥测系统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AA"/>
                </a:solidFill>
                <a:latin typeface="Microsoft YaHei"/>
              </a:defRPr>
            </a:pPr>
            <a:r>
              <a:t>10/23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1B2A"/>
                </a:solidFill>
                <a:latin typeface="Microsoft YaHei"/>
              </a:defRPr>
            </a:pPr>
            <a:r>
              <a:t>后端核心 — core/webrtc_server.py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2100+ 行 Python 异步服务器，运行在 Isaac Sim 进程内部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20116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54864" cy="21945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Microsoft YaHei"/>
              </a:defRPr>
            </a:pPr>
            <a:r>
              <a:t>WebRTCServer 主类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aiohttp 异步 HTTP + WebSocket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3113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aiortc WebRTC 信令处理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3230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8个实验的状态变量管理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3347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SDP offer/answer + ICE patch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CORS 跨域 + 静态文件服务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1645920"/>
            <a:ext cx="20116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14600" y="1645920"/>
            <a:ext cx="54864" cy="2194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7190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Microsoft YaHei"/>
              </a:defRPr>
            </a:pPr>
            <a:r>
              <a:t>IsaacSimVideoTrack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02996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继承 VideoStreamTrack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3113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Replicator API 帧捕获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43230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Viewport Camera 降级方案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63347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分辨率自适应 + LANCZOS 缩放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28346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帧率控制 30fps + 暖机机制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1645920"/>
            <a:ext cx="20116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1645920"/>
            <a:ext cx="54864" cy="21945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17190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CameraController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202996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轨道相机 (orbit/pan/zoom)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23113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lookAt 矩阵手动构造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43230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每个实验独立摄像机预设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63347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延迟重调整 (对抗Kit重置)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28346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Viewport API + USD xform 双策略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12280" y="1645920"/>
            <a:ext cx="20116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80" y="1645920"/>
            <a:ext cx="54864" cy="21945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17190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Microsoft YaHei"/>
              </a:defRPr>
            </a:pPr>
            <a:r>
              <a:t>遥测循环 _telemetry_loop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02996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100Hz 物理数据广播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223113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8个实验独立数据通道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243230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DynamicControl API 读速度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263347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碰撞检测 + 周期测量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28346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解析回退 (仿真数据兜底)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11480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15A77"/>
                </a:solidFill>
                <a:latin typeface="Consolas"/>
              </a:defRPr>
            </a:pPr>
            <a:r>
              <a:t>class WebRTCServer:                          # 主服务器类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334256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15A77"/>
                </a:solidFill>
                <a:latin typeface="Consolas"/>
              </a:defRPr>
            </a:pPr>
            <a:r>
              <a:t>  async def offer(self, request):             # WebRTC SDP 信令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55371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15A77"/>
                </a:solidFill>
                <a:latin typeface="Consolas"/>
              </a:defRPr>
            </a:pPr>
            <a:r>
              <a:t>  async def _handle_ws_message(self, ws, d):  # 实验控制命令分发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77316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15A77"/>
                </a:solidFill>
                <a:latin typeface="Consolas"/>
              </a:defRPr>
            </a:pPr>
            <a:r>
              <a:t>  async def _telemetry_loop(self):            # 100Hz 遥测广播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992624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15A77"/>
                </a:solidFill>
                <a:latin typeface="Consolas"/>
              </a:defRPr>
            </a:pPr>
            <a:r>
              <a:t>  async def video_feed_handler(self, req):    # WS-JPEG 降级视频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AA"/>
                </a:solidFill>
                <a:latin typeface="Microsoft YaHei"/>
              </a:defRPr>
            </a:pPr>
            <a:r>
              <a:t>11/23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2A"/>
            </a:gs>
            <a:gs pos="100000">
              <a:srgbClr val="1B2A4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78DA9"/>
                </a:solidFill>
                <a:latin typeface="Consolas"/>
              </a:defRPr>
            </a:pPr>
            <a: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前端开发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78DA9"/>
                </a:solidFill>
                <a:latin typeface="Microsoft YaHei"/>
              </a:defRPr>
            </a:pPr>
            <a:r>
              <a:t>React 组件体系 · 实验UI · 学长代码适配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AA"/>
                </a:solidFill>
                <a:latin typeface="Microsoft YaHei"/>
              </a:defRPr>
            </a:pPr>
            <a:r>
              <a:t>12/23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1B2A"/>
                </a:solidFill>
                <a:latin typeface="Microsoft YaHei"/>
              </a:defRPr>
            </a:pPr>
            <a:r>
              <a:t>前端组件架构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840480" cy="4114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  Landing.tsx  —  首页动画着陆页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64208"/>
            <a:ext cx="38404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  LevelSelect.tsx  —  8实验网格选择器 (锁定/解锁)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39696"/>
            <a:ext cx="384048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  ExperimentView.tsx  —  1237行! 实验控制+图表+视频+4试次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15184"/>
            <a:ext cx="384048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  WebRTCIsaacViewer.tsx  —  WebRTC视频+WS-JPEG降级+相机交互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0672"/>
            <a:ext cx="3840480" cy="4114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  LabReportPDF.tsx  —  实验一PDF报告React组件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66160"/>
            <a:ext cx="3840480" cy="4114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  Exp7ReportPDF.tsx  —  实验七PDF报告React组件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188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Microsoft YaHei"/>
              </a:defRPr>
            </a:pPr>
            <a:r>
              <a:t>◆ experiments.ts — 声明式实验配置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46304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每个实验: id, title, controls[], chartConfig[], extraMetrics[]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66420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controls: slider (min/max/step/command) / button 类型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865376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chartConfig: 遥测key映射 + 颜色 + Y轴ID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066544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isLocked: 未实现实验灰色锁定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59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Microsoft YaHei"/>
              </a:defRPr>
            </a:pPr>
            <a:r>
              <a:t>◆ isaacService.ts — WebSocket 客户端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63347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连接管理 + 自动重连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83464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命令发送: sendCommand(type, value)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03580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遥测回调订阅: onTelemetry()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236976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自定义消息分发 (exp2_progress等)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5295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◆ config.ts — 服务器URL自动检测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803904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window.location.hostname 自动适配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00507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支持 .env 手动覆写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20624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HTTP :8080 / WS :30000 端口映射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AA"/>
                </a:solidFill>
                <a:latin typeface="Microsoft YaHei"/>
              </a:defRPr>
            </a:pPr>
            <a:r>
              <a:t>13/23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1B2A"/>
                </a:solidFill>
                <a:latin typeface="Microsoft YaHei"/>
              </a:defRPr>
            </a:pPr>
            <a:r>
              <a:t>前端适配挑战 — 学长代码重构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前端基于学长 (Y-xvan/physical-lab) 项目进行了大量重构和适配工作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840480" cy="347472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  原始问题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645920"/>
            <a:ext cx="4114800" cy="347472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  我的解决方案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93392"/>
            <a:ext cx="3840480" cy="320040"/>
          </a:xfrm>
          <a:prstGeom prst="rect">
            <a:avLst/>
          </a:prstGeom>
          <a:solidFill>
            <a:srgbClr val="FEF2F2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3333"/>
                </a:solidFill>
                <a:latin typeface="Microsoft YaHei"/>
              </a:defRPr>
            </a:pPr>
            <a:r>
              <a:t>  CDN Tailwind (index.html 直接引入)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993392"/>
            <a:ext cx="4114800" cy="320040"/>
          </a:xfrm>
          <a:prstGeom prst="rect">
            <a:avLst/>
          </a:prstGeom>
          <a:solidFill>
            <a:srgbClr val="F0FDF4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66B34"/>
                </a:solidFill>
                <a:latin typeface="Microsoft YaHei"/>
              </a:defRPr>
            </a:pPr>
            <a:r>
              <a:t>  ✓ 迁移到 PostCSS + Vite 插件构建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40864"/>
            <a:ext cx="3840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3333"/>
                </a:solidFill>
                <a:latin typeface="Microsoft YaHei"/>
              </a:defRPr>
            </a:pPr>
            <a:r>
              <a:t>  硬编码服务器IP (localhost:8080)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340864"/>
            <a:ext cx="4114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66B34"/>
                </a:solidFill>
                <a:latin typeface="Microsoft YaHei"/>
              </a:defRPr>
            </a:pPr>
            <a:r>
              <a:t>  ✓ config.ts 自动检测 hostname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88336"/>
            <a:ext cx="3840480" cy="320040"/>
          </a:xfrm>
          <a:prstGeom prst="rect">
            <a:avLst/>
          </a:prstGeom>
          <a:solidFill>
            <a:srgbClr val="FEF2F2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3333"/>
                </a:solidFill>
                <a:latin typeface="Microsoft YaHei"/>
              </a:defRPr>
            </a:pPr>
            <a:r>
              <a:t>  只有 pause 命令 (服务器无 pause)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688336"/>
            <a:ext cx="4114800" cy="320040"/>
          </a:xfrm>
          <a:prstGeom prst="rect">
            <a:avLst/>
          </a:prstGeom>
          <a:solidFill>
            <a:srgbClr val="F0FDF4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66B34"/>
                </a:solidFill>
                <a:latin typeface="Microsoft YaHei"/>
              </a:defRPr>
            </a:pPr>
            <a:r>
              <a:t>  ✓ 映射 pause → stop_simulation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35808"/>
            <a:ext cx="3840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3333"/>
                </a:solidFill>
                <a:latin typeface="Microsoft YaHei"/>
              </a:defRPr>
            </a:pPr>
            <a:r>
              <a:t>  无实验切换机制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3035808"/>
            <a:ext cx="4114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66B34"/>
                </a:solidFill>
                <a:latin typeface="Microsoft YaHei"/>
              </a:defRPr>
            </a:pPr>
            <a:r>
              <a:t>  ✓ 添加 enter_experiment 协议 + switch_camera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83280"/>
            <a:ext cx="3840480" cy="320040"/>
          </a:xfrm>
          <a:prstGeom prst="rect">
            <a:avLst/>
          </a:prstGeom>
          <a:solidFill>
            <a:srgbClr val="FEF2F2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3333"/>
                </a:solidFill>
                <a:latin typeface="Microsoft YaHei"/>
              </a:defRPr>
            </a:pPr>
            <a:r>
              <a:t>  单一实验UI (无法扩展)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383280"/>
            <a:ext cx="4114800" cy="320040"/>
          </a:xfrm>
          <a:prstGeom prst="rect">
            <a:avLst/>
          </a:prstGeom>
          <a:solidFill>
            <a:srgbClr val="F0FDF4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66B34"/>
                </a:solidFill>
                <a:latin typeface="Microsoft YaHei"/>
              </a:defRPr>
            </a:pPr>
            <a:r>
              <a:t>  ✓ experiments.ts 声明式配置系统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30752"/>
            <a:ext cx="3840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3333"/>
                </a:solidFill>
                <a:latin typeface="Microsoft YaHei"/>
              </a:defRPr>
            </a:pPr>
            <a:r>
              <a:t>  无连接状态管理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730752"/>
            <a:ext cx="4114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66B34"/>
                </a:solidFill>
                <a:latin typeface="Microsoft YaHei"/>
              </a:defRPr>
            </a:pPr>
            <a:r>
              <a:t>  ✓ ConnectionStatus 枚举 + 自动重连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78224"/>
            <a:ext cx="3840480" cy="320040"/>
          </a:xfrm>
          <a:prstGeom prst="rect">
            <a:avLst/>
          </a:prstGeom>
          <a:solidFill>
            <a:srgbClr val="FEF2F2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3333"/>
                </a:solidFill>
                <a:latin typeface="Microsoft YaHei"/>
              </a:defRPr>
            </a:pPr>
            <a:r>
              <a:t>  无数据导出功能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4078224"/>
            <a:ext cx="4114800" cy="320040"/>
          </a:xfrm>
          <a:prstGeom prst="rect">
            <a:avLst/>
          </a:prstGeom>
          <a:solidFill>
            <a:srgbClr val="F0FDF4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66B34"/>
                </a:solidFill>
                <a:latin typeface="Microsoft YaHei"/>
              </a:defRPr>
            </a:pPr>
            <a:r>
              <a:t>  ✓ CSV 导出 + PDF 报告 (react-pdf)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25696"/>
            <a:ext cx="3840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3333"/>
                </a:solidFill>
                <a:latin typeface="Microsoft YaHei"/>
              </a:defRPr>
            </a:pPr>
            <a:r>
              <a:t>  无实时遥测图表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4425696"/>
            <a:ext cx="4114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66B34"/>
                </a:solidFill>
                <a:latin typeface="Microsoft YaHei"/>
              </a:defRPr>
            </a:pPr>
            <a:r>
              <a:t>  ✓ Recharts 实时折线图 + 300点滚动窗口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73168"/>
            <a:ext cx="3840480" cy="320040"/>
          </a:xfrm>
          <a:prstGeom prst="rect">
            <a:avLst/>
          </a:prstGeom>
          <a:solidFill>
            <a:srgbClr val="FEF2F2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3333"/>
                </a:solidFill>
                <a:latin typeface="Microsoft YaHei"/>
              </a:defRPr>
            </a:pPr>
            <a:r>
              <a:t>  WebRTC 连接不稳定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773168"/>
            <a:ext cx="4114800" cy="320040"/>
          </a:xfrm>
          <a:prstGeom prst="rect">
            <a:avLst/>
          </a:prstGeom>
          <a:solidFill>
            <a:srgbClr val="F0FDF4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66B34"/>
                </a:solidFill>
                <a:latin typeface="Microsoft YaHei"/>
              </a:defRPr>
            </a:pPr>
            <a:r>
              <a:t>  ✓ 自动降级到 WS-JPEG (SSH隧道友好)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120640"/>
            <a:ext cx="3840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3333"/>
                </a:solidFill>
                <a:latin typeface="Microsoft YaHei"/>
              </a:defRPr>
            </a:pPr>
            <a:r>
              <a:t>  相机控制缺失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5120640"/>
            <a:ext cx="4114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66B34"/>
                </a:solidFill>
                <a:latin typeface="Microsoft YaHei"/>
              </a:defRPr>
            </a:pPr>
            <a:r>
              <a:t>  ✓ 鼠标拖拽: LMB=轨道 RMB=平移 滚轮=缩放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AA"/>
                </a:solidFill>
                <a:latin typeface="Microsoft YaHei"/>
              </a:defRPr>
            </a:pPr>
            <a:r>
              <a:t>14/23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2A"/>
            </a:gs>
            <a:gs pos="100000">
              <a:srgbClr val="1B2A4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78DA9"/>
                </a:solidFill>
                <a:latin typeface="Consolas"/>
              </a:defRPr>
            </a:pPr>
            <a:r>
              <a:t>PART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视频流投送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78DA9"/>
                </a:solidFill>
                <a:latin typeface="Microsoft YaHei"/>
              </a:defRPr>
            </a:pPr>
            <a:r>
              <a:t>Isaac Sim 渲染画面如何到达浏览器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AA"/>
                </a:solidFill>
                <a:latin typeface="Microsoft YaHei"/>
              </a:defRPr>
            </a:pPr>
            <a:r>
              <a:t>15/23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1B2A"/>
                </a:solidFill>
                <a:latin typeface="Microsoft YaHei"/>
              </a:defRPr>
            </a:pPr>
            <a:r>
              <a:t>视频流管线 — 从GPU到浏览器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1828800" cy="1097280"/>
          </a:xfrm>
          <a:prstGeom prst="round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0C040"/>
                </a:solidFill>
              </a:defRPr>
            </a:pPr>
            <a:r>
              <a:t>1. GPU 渲染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Isaac Sim</a:t>
            </a:r>
            <a:br/>
            <a:r>
              <a:t>PhysX 5 渲染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48839" y="1554480"/>
            <a:ext cx="320040" cy="2286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68880" y="1188720"/>
            <a:ext cx="1828800" cy="1097280"/>
          </a:xfrm>
          <a:prstGeom prst="roundRect">
            <a:avLst/>
          </a:prstGeom>
          <a:solidFill>
            <a:srgbClr val="264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0C040"/>
                </a:solidFill>
              </a:defRPr>
            </a:pPr>
            <a:r>
              <a:t>2. 帧捕获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Replicator API</a:t>
            </a:r>
            <a:br/>
            <a:r>
              <a:t>Viewport Camera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343399" y="1554480"/>
            <a:ext cx="320040" cy="2286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3440" y="1188720"/>
            <a:ext cx="1828800" cy="1097280"/>
          </a:xfrm>
          <a:prstGeom prst="roundRect">
            <a:avLst/>
          </a:prstGeom>
          <a:solidFill>
            <a:srgbClr val="E97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0C040"/>
                </a:solidFill>
              </a:defRPr>
            </a:pPr>
            <a:r>
              <a:t>3. 编码传输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WebRTC Track</a:t>
            </a:r>
            <a:br/>
            <a:r>
              <a:t>H264 编码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537959" y="1554480"/>
            <a:ext cx="320040" cy="2286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0" y="1188720"/>
            <a:ext cx="1828800" cy="1097280"/>
          </a:xfrm>
          <a:prstGeom prst="roundRect">
            <a:avLst/>
          </a:prstGeom>
          <a:solidFill>
            <a:srgbClr val="227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0C040"/>
                </a:solidFill>
              </a:defRPr>
            </a:pPr>
            <a:r>
              <a:t>4. 浏览器解码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&lt;video&gt; 元素</a:t>
            </a:r>
            <a:br/>
            <a:r>
              <a:t>实时播放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Microsoft YaHei"/>
              </a:defRPr>
            </a:pPr>
            <a:r>
              <a:t>◆ WebRTC 主通道 (优先)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SDP offer/answer 通过 HTTP POST /offer 交换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3580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ICE 候选地址补丁: 替换 0.0.0.0/127.0.0.1 为真实 LAN 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36976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STUN 服务器: stun:stun.l.google.com:19302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38144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IsaacSimVideoTrack: 继承 aiortc.VideoStreamTrack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3931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30fps 帧率控制 + 30帧暖机 (等待渲染器就绪)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Replicator render_product → rgb_annotator → numpy array → VideoFrame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330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500"/>
                </a:solidFill>
                <a:latin typeface="Microsoft YaHei"/>
              </a:defRPr>
            </a:pPr>
            <a:r>
              <a:t>◆ WS-JPEG 降级通道 (SSH隧道友好)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0740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当 WebRTC ICE 连接失败 (8秒超时) 自动降级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08576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WebSocket /video_feed 端点接收 JPEG 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09744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_SharedFrameCapture 单例: 抓取视口 → PIL JPEG 编码 (quality=80)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1091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24fps 推送 + Blob URL 渲染到 &lt;img&gt; 元素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1208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前端自动检测: webrtc → ws-jpeg → none 三态切换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5046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Microsoft YaHei"/>
              </a:defRPr>
            </a:pPr>
            <a:r>
              <a:t>◆ 相机交互系统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77900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鼠标拖拽: LMB=轨道旋转 RMB=平移 滚轮=缩放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980176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rAF 节流: requestAnimationFrame 合并相机指令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181344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fire-and-forget: fetch POST /camera (不等响应)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38251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· 方位角/仰角/距离 → lookAt矩阵 → USD Xform 应用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AA"/>
                </a:solidFill>
                <a:latin typeface="Microsoft YaHei"/>
              </a:defRPr>
            </a:pPr>
            <a:r>
              <a:t>16/23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2A"/>
            </a:gs>
            <a:gs pos="100000">
              <a:srgbClr val="1B2A4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78DA9"/>
                </a:solidFill>
                <a:latin typeface="Consolas"/>
              </a:defRPr>
            </a:pPr>
            <a:r>
              <a:t>PART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同学代码集成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78DA9"/>
                </a:solidFill>
                <a:latin typeface="Microsoft YaHei"/>
              </a:defRPr>
            </a:pPr>
            <a:r>
              <a:t>实验二（大摆角摆） · 实验七（动量守恒碰撞）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AA"/>
                </a:solidFill>
                <a:latin typeface="Microsoft YaHei"/>
              </a:defRPr>
            </a:pPr>
            <a:r>
              <a:t>17/23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1B2A"/>
                </a:solidFill>
                <a:latin typeface="Microsoft YaHei"/>
              </a:defRPr>
            </a:pPr>
            <a:r>
              <a:t>实验二 · 大摆角摆 — 同学代码集成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Microsoft YaHei"/>
              </a:defRPr>
            </a:pPr>
            <a:r>
              <a:t>● 同学原始代码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81328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独立 Python 脚本 (expt2_large_amplitude_pendulum_sim_fixed.py)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09928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使用 isaacsim World 对象 + 程序化可视化摆杆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38528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RK4 积分求解阻尼复合摆微分方程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67128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零交叉法测量周期 + 级数展开比较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95728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matplotlib 绘图 + Markdown 报告输出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3405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Microsoft YaHei"/>
              </a:defRPr>
            </a:pPr>
            <a:r>
              <a:t>● 我的集成工作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2666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2A4A"/>
                </a:solidFill>
                <a:latin typeface="Microsoft YaHei"/>
              </a:defRPr>
            </a:pPr>
            <a:r>
              <a:t>✦ 将 RK4 物理循环集成到 async 服务器 (_run_exp2_physics_loop)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5526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2A4A"/>
                </a:solidFill>
                <a:latin typeface="Microsoft YaHei"/>
              </a:defRPr>
            </a:pPr>
            <a:r>
              <a:t>✦ 重写场景构建: World对象 → 纯 UsdGeom API (兼容 WebRTC 帧捕获)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8386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2A4A"/>
                </a:solidFill>
                <a:latin typeface="Microsoft YaHei"/>
              </a:defRPr>
            </a:pPr>
            <a:r>
              <a:t>✦ 每6个RK4步骤 yield 一个Kit帧 (app.next_update_async) → ~360Hz 物理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1246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2A4A"/>
                </a:solidFill>
                <a:latin typeface="Microsoft YaHei"/>
              </a:defRPr>
            </a:pPr>
            <a:r>
              <a:t>✦ 添加 θ/ω/α 遥测 + 实时周期检测 + 级数展开T理论值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4106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2A4A"/>
                </a:solidFill>
                <a:latin typeface="Microsoft YaHei"/>
              </a:defRPr>
            </a:pPr>
            <a:r>
              <a:t>✦ 完整实验模式: 振幅扫描 + CSV + 5张图 + Markdown报告 → base64 推送到前端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16966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2A4A"/>
                </a:solidFill>
                <a:latin typeface="Microsoft YaHei"/>
              </a:defRPr>
            </a:pPr>
            <a:r>
              <a:t>✦ 摄像机预设 + 延迟重调整 (1s/2s/4s 对抗 Kit 异步重置)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9826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2A4A"/>
                </a:solidFill>
                <a:latin typeface="Microsoft YaHei"/>
              </a:defRPr>
            </a:pPr>
            <a:r>
              <a:t>✦ 前端: amplitude/damping 滑块 + 报告下载 (ZIP/MD/CSV)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2803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Microsoft YaHei"/>
              </a:defRPr>
            </a:pPr>
            <a:r>
              <a:t>关键挑战: World 对象的 step() 与 WebRTC 帧捕获管线冲突 → 必须改用纯 USD + Kit async 渲染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AA"/>
                </a:solidFill>
                <a:latin typeface="Microsoft YaHei"/>
              </a:defRPr>
            </a:pPr>
            <a:r>
              <a:t>18/23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1B2A"/>
                </a:solidFill>
                <a:latin typeface="Microsoft YaHei"/>
              </a:defRPr>
            </a:pPr>
            <a:r>
              <a:t>实验七 · 动量守恒碰撞 — 同学代码集成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1031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4864" cy="2743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Microsoft YaHei"/>
              </a:defRPr>
            </a:pPr>
            <a:r>
              <a:t>场景程序化构建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new_stage() → 纯 UsdGeom 构建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739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零重力 (模拟水平无摩擦轨道)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751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两个 DynamicCuboid 小车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762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PhysicsMaterial: μ=0, e 可调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PhysxRigidBodyAPI: CCD 碰撞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786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64/32 求解器迭代 (高精度)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1188720"/>
            <a:ext cx="21031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68880" y="1188720"/>
            <a:ext cx="54864" cy="2743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1261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Microsoft YaHei"/>
              </a:defRPr>
            </a:pPr>
            <a:r>
              <a:t>碰撞物理管线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15727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warmup 0.15s → 清零残余运动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17739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DynamicControl API 施加初速度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19751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轻量碰撞检测器 (速度突变法)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1762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碰撞后 0.4s 等待稳定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377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超时兜底 (3s 无碰撞自动结束)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5786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碰撞前后速度精确捕获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1188720"/>
            <a:ext cx="21031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1188720"/>
            <a:ext cx="54864" cy="27432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1261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前端4试次系统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15727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与实验一相同的状态机模式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17739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idle → running → settled → recorded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19751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Cart1/Cart2 质量/速度滑块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21762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恢复系数 e 滑块 (0~1)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2377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实时 v1/v2/p_total 图表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25786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15列数据表 + CSV + PDF 报告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1188720"/>
            <a:ext cx="21031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0" y="1188720"/>
            <a:ext cx="54864" cy="2743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1261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Microsoft YaHei"/>
              </a:defRPr>
            </a:pPr>
            <a:r>
              <a:t>遥测数据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15727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v1, v2: 实时X方向速度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17739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p1, p2, p_total: 各车/总动量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19751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ke1, ke2, ke_total: 动能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21762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x1, x2: 小车位置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2377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phase: idle/warmup/running/settled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25786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碰撞类型: elastic/inelastic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2062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Microsoft YaHei"/>
              </a:defRPr>
            </a:pPr>
            <a:r>
              <a:t>关键挑战: PhysX 碰撞精度 → CCD + 高迭代求解器 + 零重力消除法向力干扰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AA"/>
                </a:solidFill>
                <a:latin typeface="Microsoft YaHei"/>
              </a:defRPr>
            </a:pPr>
            <a:r>
              <a:t>19/23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2A"/>
            </a:gs>
            <a:gs pos="100000">
              <a:srgbClr val="1B2A4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78DA9"/>
                </a:solidFill>
                <a:latin typeface="Consolas"/>
              </a:defRPr>
            </a:pPr>
            <a:r>
              <a:t>PART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技术挑战与解决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78DA9"/>
                </a:solidFill>
                <a:latin typeface="Microsoft YaHei"/>
              </a:defRPr>
            </a:pPr>
            <a:r>
              <a:t>Isaac Sim · WebRTC · 物理精度 · 工程问题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AA"/>
                </a:solidFill>
                <a:latin typeface="Microsoft YaHei"/>
              </a:defRPr>
            </a:pPr>
            <a:r>
              <a:t>20/23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1B2A"/>
                </a:solidFill>
                <a:latin typeface="Microsoft YaHei"/>
              </a:defRPr>
            </a:pPr>
            <a:r>
              <a:t>踩过的坑与解决方案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1828800" cy="5029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900" b="1">
                <a:solidFill>
                  <a:srgbClr val="FFFFFF"/>
                </a:solidFill>
              </a:defRPr>
            </a:pPr>
            <a:r>
              <a:t>Isaac Sim 导入顺序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0972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3333"/>
                </a:solidFill>
                <a:latin typeface="Microsoft YaHei"/>
              </a:defRPr>
            </a:pPr>
            <a:r>
              <a:t>SimulationApp 必须在 omni.*/pxr.* 之前实例化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0972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6B34"/>
                </a:solidFill>
                <a:latin typeface="Microsoft YaHei"/>
              </a:defRPr>
            </a:pPr>
            <a:r>
              <a:t>→ 严格控制导入顺序; start_server.py 先 import isaacsim 再加载模块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64208"/>
            <a:ext cx="182880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900" b="1">
                <a:solidFill>
                  <a:srgbClr val="FFFFFF"/>
                </a:solidFill>
              </a:defRPr>
            </a:pPr>
            <a:r>
              <a:t>WebRTC ICE 连接失败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66420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3333"/>
                </a:solidFill>
                <a:latin typeface="Microsoft YaHei"/>
              </a:defRPr>
            </a:pPr>
            <a:r>
              <a:t>SSH 隧道环境下 ICE 候选地址无法穿透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66420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6B34"/>
                </a:solidFill>
                <a:latin typeface="Microsoft YaHei"/>
              </a:defRPr>
            </a:pPr>
            <a:r>
              <a:t>→ SDP 补丁替换 IP + 8秒超时自动降级 WS-JPEG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231136"/>
            <a:ext cx="1828800" cy="50292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900" b="1">
                <a:solidFill>
                  <a:srgbClr val="FFFFFF"/>
                </a:solidFill>
              </a:defRPr>
            </a:pPr>
            <a:r>
              <a:t>摄像机被 Kit 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23113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3333"/>
                </a:solidFill>
                <a:latin typeface="Microsoft YaHei"/>
              </a:defRPr>
            </a:pPr>
            <a:r>
              <a:t>切换实验后 Kit 异步初始化会覆盖摄像机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23113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6B34"/>
                </a:solidFill>
                <a:latin typeface="Microsoft YaHei"/>
              </a:defRPr>
            </a:pPr>
            <a:r>
              <a:t>→ 延迟重调整策略: 1s/2s/4s 三次重设 + Viewport API + USD 双策略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798064"/>
            <a:ext cx="1828800" cy="50292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900" b="1">
                <a:solidFill>
                  <a:srgbClr val="FFFFFF"/>
                </a:solidFill>
              </a:defRPr>
            </a:pPr>
            <a:r>
              <a:t>World.step() 与 WebRTC 冲突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79806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3333"/>
                </a:solidFill>
                <a:latin typeface="Microsoft YaHei"/>
              </a:defRPr>
            </a:pPr>
            <a:r>
              <a:t>isaacsim World 的 step() 阻塞导致帧捕获失败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79806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6B34"/>
                </a:solidFill>
                <a:latin typeface="Microsoft YaHei"/>
              </a:defRPr>
            </a:pPr>
            <a:r>
              <a:t>→ 放弃 World 对象 → 纯 UsdGeom + app.next_update_async() 异步渲染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364992"/>
            <a:ext cx="1828800" cy="5029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900" b="1">
                <a:solidFill>
                  <a:srgbClr val="FFFFFF"/>
                </a:solidFill>
              </a:defRPr>
            </a:pPr>
            <a:r>
              <a:t>物理暖机必要性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36499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3333"/>
                </a:solidFill>
                <a:latin typeface="Microsoft YaHei"/>
              </a:defRPr>
            </a:pPr>
            <a:r>
              <a:t>world.reset() 后直接施加速度会被引擎吞掉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6499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6B34"/>
                </a:solidFill>
                <a:latin typeface="Microsoft YaHei"/>
              </a:defRPr>
            </a:pPr>
            <a:r>
              <a:t>→ 0.15~1.0s 暖机阶段 (物理步进但保持初始位置)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931920"/>
            <a:ext cx="182880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900" b="1">
                <a:solidFill>
                  <a:srgbClr val="FFFFFF"/>
                </a:solidFill>
              </a:defRPr>
            </a:pPr>
            <a:r>
              <a:t>VisualCuboid vs FixedCuboid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9319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3333"/>
                </a:solidFill>
                <a:latin typeface="Microsoft YaHei"/>
              </a:defRPr>
            </a:pPr>
            <a:r>
              <a:t>装饰性几何体用 FixedCuboid 会产生幽灵碰撞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9319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6B34"/>
                </a:solidFill>
                <a:latin typeface="Microsoft YaHei"/>
              </a:defRPr>
            </a:pPr>
            <a:r>
              <a:t>→ 严格区分: 装饰=VisualCuboid/UsdGeom.Cube, 碰撞=DynamicCuboid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498848"/>
            <a:ext cx="1828800" cy="502920"/>
          </a:xfrm>
          <a:prstGeom prst="round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900" b="1">
                <a:solidFill>
                  <a:srgbClr val="FFFFFF"/>
                </a:solidFill>
              </a:defRPr>
            </a:pPr>
            <a:r>
              <a:t>PhysX 碰撞精度不足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4988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3333"/>
                </a:solidFill>
                <a:latin typeface="Microsoft YaHei"/>
              </a:defRPr>
            </a:pPr>
            <a:r>
              <a:t>小车碰撞穿透或速度丢失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4988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6B34"/>
                </a:solidFill>
                <a:latin typeface="Microsoft YaHei"/>
              </a:defRPr>
            </a:pPr>
            <a:r>
              <a:t>→ 启用 CCD + solver iterations 64/32 + contactOffset 0.002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065776"/>
            <a:ext cx="1828800" cy="502920"/>
          </a:xfrm>
          <a:prstGeom prst="roundRect">
            <a:avLst/>
          </a:prstGeom>
          <a:solidFill>
            <a:srgbClr val="778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900" b="1">
                <a:solidFill>
                  <a:srgbClr val="FFFFFF"/>
                </a:solidFill>
              </a:defRPr>
            </a:pPr>
            <a:r>
              <a:t>Replicator 帧捕获不稳定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06577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3333"/>
                </a:solidFill>
                <a:latin typeface="Microsoft YaHei"/>
              </a:defRPr>
            </a:pPr>
            <a:r>
              <a:t>首次使用时 rgb_annotator 返回空数据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506577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6B34"/>
                </a:solidFill>
                <a:latin typeface="Microsoft YaHei"/>
              </a:defRPr>
            </a:pPr>
            <a:r>
              <a:t>→ 20帧预热 + KeyError 捕获 → 自动重建 render_product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AA"/>
                </a:solidFill>
                <a:latin typeface="Microsoft YaHei"/>
              </a:defRPr>
            </a:pPr>
            <a:r>
              <a:t>21/22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2A"/>
            </a:gs>
            <a:gs pos="100000">
              <a:srgbClr val="1B2A4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项目成果与展望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◆ 已完成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✓ 3 个实验完整实现（实验一全部自研 + 实验二/七集成适配）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93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✓ 2100+ 行异步后端服务器（视频 + 遥测 + 8实验框架）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494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✓ 1237 行前端组件（三种专用实验UI + 通用实验视图）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0545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✓ 双通道视频传输（WebRTC 优先 + WS-JPEG 降级）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✓ 100Hz 实时遥测 + 实时数据可视化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✓ PDF 实验报告自动生成（前端 react-pdf + 后端 Jinja2）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735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✓ 批处理 CLI 模式（CSV + matplotlib 图表 + Markdown 报告）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52958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✓ 完善的工程实践（配置中心化、文档体系、Agent连续性）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6849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C040"/>
                </a:solidFill>
                <a:latin typeface="Microsoft YaHei"/>
              </a:defRPr>
            </a:pPr>
            <a:r>
              <a:t>◆ 未来展望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3425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✓ 完成剩余 5 个实验（弹道摆/受驱阻尼/转动惯量/向心力/空气柱共振）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59028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✓ VR 头显集成（reset() + 控制器事件 → core/vr.py）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463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✓ AI 智能实验编排（自动选参、自动运行、自动分析）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1023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✓ 多用户并发支持 + 教学管理后台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0C040"/>
                </a:solidFill>
                <a:latin typeface="Microsoft YaHei"/>
              </a:defRPr>
            </a:pPr>
            <a:r>
              <a:t>感谢聆听  |  Q &amp;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AA"/>
                </a:solidFill>
                <a:latin typeface="Microsoft YaHei"/>
              </a:defRPr>
            </a:pPr>
            <a:r>
              <a:t>22/22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